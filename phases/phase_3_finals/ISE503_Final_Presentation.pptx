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05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19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7813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HEALTH ANALYTICS · ISE 503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High-Cost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Patients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AA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They Become High-Cost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4572000" cy="36576"/>
          </a:xfrm>
          <a:prstGeom prst="rect">
            <a:avLst/>
          </a:prstGeom>
          <a:solidFill>
            <a:srgbClr val="3B5EA6"/>
          </a:solidFill>
          <a:ln w="12700">
            <a:solidFill>
              <a:srgbClr val="3B5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A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Raju · Vansh Chanchlani 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A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Southern California  ·  ISE 503 Health Analytics  ·  Spring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914400"/>
            <a:ext cx="1737360" cy="3200400"/>
          </a:xfrm>
          <a:prstGeom prst="rect">
            <a:avLst/>
          </a:prstGeom>
          <a:solidFill>
            <a:srgbClr val="213470"/>
          </a:solidFill>
          <a:ln w="12700">
            <a:solidFill>
              <a:srgbClr val="2134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0" y="1097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05C40"/>
                </a:solidFill>
              </a:rPr>
              <a:t>5%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7132320" y="1691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of patients drive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50% of 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06640" y="2423160"/>
            <a:ext cx="1188720" cy="18288"/>
          </a:xfrm>
          <a:prstGeom prst="rect">
            <a:avLst/>
          </a:prstGeom>
          <a:solidFill>
            <a:srgbClr val="3B5EA6"/>
          </a:solidFill>
          <a:ln w="12700">
            <a:solidFill>
              <a:srgbClr val="3B5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0" y="25603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6A34A"/>
                </a:solidFill>
              </a:rPr>
              <a:t>72%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7132320" y="31546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of future high-cost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patients captured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5580"/>
                </a:solidFill>
              </a:rPr>
              <a:t>Slide 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6E4F7"/>
                </a:solidFill>
              </a:rPr>
              <a:t>PART A  ·  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6E4F7"/>
                </a:solidFill>
              </a:rPr>
              <a:t>2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ACO Is Flying Blind on Next Year's Costliest Patients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5C40"/>
                </a:solidFill>
              </a:rPr>
              <a:t>5%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of Medicare patients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drive 50% of all costs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160020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C5FA3"/>
                </a:solidFill>
              </a:rPr>
              <a:t>$85,798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37560" y="23317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annual spending threshold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for top-5% patients in 2023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50876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72200" y="160020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4748B"/>
                </a:solidFill>
              </a:rPr>
              <a:t>$0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63640" y="23317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proactive identification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in most ACOs today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32918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patient is identified as high-cost, the hospitalizations have already happened, and the savings window has closed. Your care management team needs a forward-looking tool that ranks patients by predicted risk before the year begins.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4160520"/>
            <a:ext cx="8503920" cy="658368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41605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A2E5A"/>
                </a:solidFill>
              </a:rPr>
              <a:t>Our answer: </a:t>
            </a:r>
            <a:r>
              <a:rPr lang="en-US" sz="1250" dirty="0">
                <a:solidFill>
                  <a:srgbClr val="1A2E5A"/>
                </a:solidFill>
              </a:rPr>
              <a:t>Use last year's Medicare claims to predict who will be in the top 5% of spending next year, and flag them for proactive outreach before avoidable hospitalizations occur.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6E4F7"/>
                </a:solidFill>
              </a:rPr>
              <a:t>PART A  ·  HEALTH ANALYTICS FRAMEWORK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6E4F7"/>
                </a:solidFill>
              </a:rPr>
              <a:t>3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47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5A"/>
                </a:solidFill>
              </a:rPr>
              <a:t>What We Set Out to Do — and For Whom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271016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160520" cy="29260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OBJECTIVE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700784"/>
            <a:ext cx="394106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Predict which Medicare patients will be in the top 5% of spending in Year 2 using only Year 1 claims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271996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160520" cy="29260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37160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TARGET POPULATION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73168" y="1700784"/>
            <a:ext cx="394106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Fee-for-service Medicare beneficiaries with 12 months of Part A &amp; B enrollment. Medicare Advantage excluded.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603754"/>
            <a:ext cx="4160520" cy="119345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701236"/>
            <a:ext cx="4160520" cy="29260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704175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DECISION / USE CASE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9768" y="3072384"/>
            <a:ext cx="394106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Ranked risk-score list delivered each January so care managers can prioritize outreach before costs materialize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2612572"/>
            <a:ext cx="4160520" cy="118431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54296" y="2696174"/>
            <a:ext cx="4160520" cy="29260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45736" y="2693235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INTENDED AUDIENCE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73168" y="3072384"/>
            <a:ext cx="394106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ACO Medical Director and care coordination team allocating limited outreach capacity across a large panel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01752" y="391363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3995928"/>
            <a:ext cx="4160520" cy="29260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4034953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EVALUATION FOCUS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9768" y="4443984"/>
            <a:ext cx="39410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AUC-ROC: measures how well the model ranks patients by risk, regardless of class imbalance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45152" y="391363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54296" y="4026789"/>
            <a:ext cx="4160520" cy="29260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0" y="4034627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BOUNDARIES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73168" y="4443984"/>
            <a:ext cx="39410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Identification only. Tool informs clinical judgment, it does not replace it or automate any care decision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447"/>
          </a:solidFill>
          <a:ln w="12700">
            <a:solidFill>
              <a:srgbClr val="0F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6E4F7"/>
                </a:solidFill>
              </a:rPr>
              <a:t>PART B  ·  DATA &amp; METHODS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6E4F7"/>
                </a:solidFill>
              </a:rPr>
              <a:t>4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5A"/>
                </a:solidFill>
              </a:rPr>
              <a:t>From Raw Claims to a Prediction-Ready Dataset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2011680" cy="411480"/>
          </a:xfrm>
          <a:prstGeom prst="rect">
            <a:avLst/>
          </a:prstGeom>
          <a:solidFill>
            <a:srgbClr val="2C5FA3"/>
          </a:solidFill>
          <a:ln w="12700">
            <a:solidFill>
              <a:srgbClr val="2C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3258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325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CMS Medicare PUF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78308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Verified government source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8,671 beneficiaries (2022)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9,179 beneficiaries (2023)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31720" y="2359152"/>
            <a:ext cx="13716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68880" y="132588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68880" y="1325880"/>
            <a:ext cx="2011680" cy="411480"/>
          </a:xfrm>
          <a:prstGeom prst="rect">
            <a:avLst/>
          </a:prstGeom>
          <a:solidFill>
            <a:srgbClr val="2C5FA3"/>
          </a:solidFill>
          <a:ln w="12700">
            <a:solidFill>
              <a:srgbClr val="2C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68880" y="13258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71800" y="1325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Claims Linkage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68880" y="1783080"/>
            <a:ext cx="1965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Inpatient · Outpatient · Carrier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3 file types · BENE_ID join key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2022 - &amp; 2023 - year filter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2359152"/>
            <a:ext cx="13716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17720" y="132588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1325880"/>
            <a:ext cx="2011680" cy="41148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17720" y="13258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1325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Feature Engineering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160" y="178308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30 features built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14 base + 16 clinical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Trajectory · ICD codes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29400" y="2359152"/>
            <a:ext cx="13716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766560" y="132588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66560" y="1325880"/>
            <a:ext cx="2011680" cy="411480"/>
          </a:xfrm>
          <a:prstGeom prst="rect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66560" y="13258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69480" y="1325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Label Creation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8000" y="178308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Top 5% of 2023 spending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Threshold: $85,798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167 high-cost / 3,172 non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</a:rPr>
              <a:t>30 Features Across 5 Categories: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4114800"/>
            <a:ext cx="1600200" cy="658368"/>
          </a:xfrm>
          <a:prstGeom prst="rect">
            <a:avLst/>
          </a:prstGeom>
          <a:solidFill>
            <a:srgbClr val="2C5FA3"/>
          </a:solidFill>
          <a:ln w="12700">
            <a:solidFill>
              <a:srgbClr val="2C5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93192" y="411480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Prior Spending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039112" y="4114800"/>
            <a:ext cx="1600200" cy="658368"/>
          </a:xfrm>
          <a:prstGeom prst="rect">
            <a:avLst/>
          </a:prstGeom>
          <a:solidFill>
            <a:srgbClr val="2C5FA3"/>
          </a:solidFill>
          <a:ln w="12700">
            <a:solidFill>
              <a:srgbClr val="2C5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112264" y="411480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Utilization Type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758184" y="4114800"/>
            <a:ext cx="1600200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831336" y="411480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Diagnosis Burden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77256" y="4114800"/>
            <a:ext cx="1600200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550408" y="411480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Chronic Disease Flags (8)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196328" y="4114800"/>
            <a:ext cx="1600200" cy="658368"/>
          </a:xfrm>
          <a:prstGeom prst="rect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269480" y="411480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Spending Trajectory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447"/>
          </a:solidFill>
          <a:ln w="12700">
            <a:solidFill>
              <a:srgbClr val="0F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6E4F7"/>
                </a:solidFill>
              </a:rPr>
              <a:t>PART B  ·  EXPLORATORY DATA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6E4F7"/>
                </a:solidFill>
              </a:rPr>
              <a:t>5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5A"/>
                </a:solidFill>
              </a:rPr>
              <a:t>The Data Already Tells a Story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53061" y="1362456"/>
            <a:ext cx="4663439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353312"/>
            <a:ext cx="164592" cy="804672"/>
          </a:xfrm>
          <a:prstGeom prst="rect">
            <a:avLst/>
          </a:prstGeom>
          <a:solidFill>
            <a:srgbClr val="2C5FA3"/>
          </a:solidFill>
          <a:ln w="12700">
            <a:solidFill>
              <a:srgbClr val="2C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4338" y="1389555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</a:rPr>
              <a:t>13x Spending Gap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4338" y="1636775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Future high-cost patients had mean Year 1 spending of $1,160K vs $88K for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non-high-cost patients a 13x differential that validates prior spending as the dominant predictor.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060" y="2276856"/>
            <a:ext cx="46634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267712"/>
            <a:ext cx="164592" cy="804672"/>
          </a:xfrm>
          <a:prstGeom prst="rect">
            <a:avLst/>
          </a:prstGeom>
          <a:solidFill>
            <a:srgbClr val="2C5FA3"/>
          </a:solidFill>
          <a:ln w="12700">
            <a:solidFill>
              <a:srgbClr val="2C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2290" y="230269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</a:rPr>
              <a:t>Right-Skewed Costs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6602" y="256032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Year 2 spending is heavily right-skewed. Most patients cluster near zero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while a tiny tail drives disproportionate cost confirming the top-5%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concentration pattern.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53060" y="3182112"/>
            <a:ext cx="46634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3182112"/>
            <a:ext cx="164592" cy="804672"/>
          </a:xfrm>
          <a:prstGeom prst="rect">
            <a:avLst/>
          </a:prstGeom>
          <a:solidFill>
            <a:srgbClr val="2C5FA3"/>
          </a:solidFill>
          <a:ln w="12700">
            <a:solidFill>
              <a:srgbClr val="2C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2290" y="3194571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</a:rPr>
              <a:t>Demographics Signal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4338" y="3483864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Males have a 5.8% high-cost rate vs 4.3% for females. High-cost patients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peak younger (~65) than non-high-cost (~70), reflecting acute catastrophic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events.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53060" y="4087368"/>
            <a:ext cx="46634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4096512"/>
            <a:ext cx="164592" cy="804672"/>
          </a:xfrm>
          <a:prstGeom prst="rect">
            <a:avLst/>
          </a:prstGeom>
          <a:solidFill>
            <a:srgbClr val="2C5FA3"/>
          </a:solidFill>
          <a:ln w="12700">
            <a:solidFill>
              <a:srgbClr val="2C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6602" y="4115133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</a:rPr>
              <a:t>Disease Prevalence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4338" y="4282011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41.5% cardiovascular, 36.8% renal, 32.8% diabetes, clinically realistic Medicare population with high chronic disease burden.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80508" y="1303218"/>
            <a:ext cx="4007460" cy="3566160"/>
          </a:xfrm>
          <a:prstGeom prst="rect">
            <a:avLst/>
          </a:prstGeom>
          <a:solidFill>
            <a:srgbClr val="EEF4FB"/>
          </a:solidFill>
          <a:ln w="12700">
            <a:solidFill>
              <a:srgbClr val="BFC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4774783"/>
            <a:ext cx="8503920" cy="276969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accent6">
                    <a:lumMod val="50000"/>
                  </a:schemeClr>
                </a:solidFill>
              </a:rPr>
              <a:t>Prior-year spending is the clearest signal, and it means we can identify high-risk patients using data ACOs already have.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7BADEB7-482E-7C34-B8CD-C0B79F69A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368" y="1668447"/>
            <a:ext cx="3961739" cy="28078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447"/>
          </a:solidFill>
          <a:ln w="12700">
            <a:solidFill>
              <a:srgbClr val="0F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6E4F7"/>
                </a:solidFill>
              </a:rPr>
              <a:t>PART B  ·  MODEL BUILDING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6E4F7"/>
                </a:solidFill>
              </a:rPr>
              <a:t>6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5A"/>
                </a:solidFill>
              </a:rPr>
              <a:t>How We Built and Selected the Final Model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1572768" cy="13716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3258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5C40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162763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Split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" y="1947672"/>
            <a:ext cx="1426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4F7"/>
                </a:solidFill>
              </a:rPr>
              <a:t>70% train / 30% test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4F7"/>
                </a:solidFill>
              </a:rPr>
              <a:t>Stratified by class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92808" y="1938528"/>
            <a:ext cx="146304" cy="73152"/>
          </a:xfrm>
          <a:prstGeom prst="rect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39112" y="1325880"/>
            <a:ext cx="1572768" cy="13716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39112" y="13258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5C40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39112" y="162763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Balance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12264" y="1947672"/>
            <a:ext cx="1426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4F7"/>
                </a:solidFill>
              </a:rPr>
              <a:t>SMOTE for LR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4F7"/>
                </a:solidFill>
              </a:rPr>
              <a:t>scale_pos_weight for XGB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11880" y="1938528"/>
            <a:ext cx="146304" cy="73152"/>
          </a:xfrm>
          <a:prstGeom prst="rect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58184" y="1325880"/>
            <a:ext cx="1572768" cy="13716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58184" y="13258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5C40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58184" y="162763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31336" y="1947672"/>
            <a:ext cx="1426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4F7"/>
                </a:solidFill>
              </a:rPr>
              <a:t>Logistic Regression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4F7"/>
                </a:solidFill>
              </a:rPr>
              <a:t>XGBoost (400 trees)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30952" y="1938528"/>
            <a:ext cx="146304" cy="73152"/>
          </a:xfrm>
          <a:prstGeom prst="rect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77256" y="1325880"/>
            <a:ext cx="1572768" cy="13716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77256" y="13258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5C40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77256" y="162763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Validate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50408" y="1947672"/>
            <a:ext cx="1426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4F7"/>
                </a:solidFill>
              </a:rPr>
              <a:t>5-Fold Stratified CV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4F7"/>
                </a:solidFill>
              </a:rPr>
              <a:t>AUC-ROC primary metric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50024" y="1938528"/>
            <a:ext cx="146304" cy="73152"/>
          </a:xfrm>
          <a:prstGeom prst="rect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196328" y="1325880"/>
            <a:ext cx="1572768" cy="13716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96328" y="13258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5C40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96328" y="162763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Select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69480" y="1947672"/>
            <a:ext cx="1426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4F7"/>
                </a:solidFill>
              </a:rPr>
              <a:t>XGBoost wins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4F7"/>
                </a:solidFill>
              </a:rPr>
              <a:t>AUC 0.878 vs 0.828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" y="29260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5A"/>
                </a:solidFill>
              </a:rPr>
              <a:t>Why XGBoost Over Logistic Regression?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1480" y="333756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Captures non-linear interactions between features (e.g. high spending AND high growth rate = far higher risk than either alone)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11480" y="372160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Handles class imbalance natively via </a:t>
            </a:r>
            <a:r>
              <a:rPr lang="en-US" sz="1150" dirty="0" err="1">
                <a:solidFill>
                  <a:srgbClr val="1E293B"/>
                </a:solidFill>
              </a:rPr>
              <a:t>scale_pos_weight</a:t>
            </a:r>
            <a:r>
              <a:rPr lang="en-US" sz="1150" dirty="0">
                <a:solidFill>
                  <a:srgbClr val="1E293B"/>
                </a:solidFill>
              </a:rPr>
              <a:t>, no synthetic data needed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11480" y="410565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Test AUC 0.878 vs 0.828 for Logistic Regression, clear winner on the primary metric</a:t>
            </a:r>
            <a:endParaRPr lang="en-US" sz="11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2880360"/>
          <a:ext cx="3429000" cy="192024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Enriched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5C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 Enriched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5C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5C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447"/>
          </a:solidFill>
          <a:ln w="12700">
            <a:solidFill>
              <a:srgbClr val="0F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6E4F7"/>
                </a:solidFill>
              </a:rPr>
              <a:t>PART B  ·  MODEL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6E4F7"/>
                </a:solidFill>
              </a:rPr>
              <a:t>7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5A"/>
                </a:solidFill>
              </a:rPr>
              <a:t>How Well Does the Model Perform?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1691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1691640" cy="256032"/>
          </a:xfrm>
          <a:prstGeom prst="rect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32588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AUC-ROC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60020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5C40"/>
                </a:solidFill>
              </a:rPr>
              <a:t>0.878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vs 0.828 baseline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+5 point improvement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40280" y="1325880"/>
            <a:ext cx="1691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40280" y="1325880"/>
            <a:ext cx="1691640" cy="256032"/>
          </a:xfrm>
          <a:prstGeom prst="rect">
            <a:avLst/>
          </a:prstGeom>
          <a:solidFill>
            <a:srgbClr val="2C5FA3"/>
          </a:solidFill>
          <a:ln w="12700">
            <a:solidFill>
              <a:srgbClr val="2C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40280" y="132588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AVG PRECISION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40280" y="160020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C5FA3"/>
                </a:solidFill>
              </a:rPr>
              <a:t>0.592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331720" y="22860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vs 0.050 random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12× better than chance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246120"/>
            <a:ext cx="1691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246120"/>
            <a:ext cx="169164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324612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CAPTURE RATE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0040" y="352044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A34A"/>
                </a:solidFill>
              </a:rPr>
              <a:t>72%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11480" y="42062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Flagging top 10%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of patients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3246120"/>
            <a:ext cx="1691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240280" y="3246120"/>
            <a:ext cx="1691640" cy="2560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40280" y="324612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SPENDING COVERED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240280" y="352044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2E5A"/>
                </a:solidFill>
              </a:rPr>
              <a:t>56%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2331720" y="42062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Top decile accounts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for 56% of all costs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60520" y="1298448"/>
            <a:ext cx="4663440" cy="3566160"/>
          </a:xfrm>
          <a:prstGeom prst="rect">
            <a:avLst/>
          </a:prstGeom>
          <a:solidFill>
            <a:srgbClr val="EEF4FB"/>
          </a:solidFill>
          <a:ln w="12700">
            <a:solidFill>
              <a:srgbClr val="BFC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" y="4764024"/>
            <a:ext cx="8503920" cy="25603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accent6">
                    <a:lumMod val="50000"/>
                  </a:schemeClr>
                </a:solidFill>
              </a:rPr>
              <a:t>Our model beats published benchmarks (Chechulin 2014: AUC 0.78–0.82) and delivers operationally actionable results.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86BE38B-C659-0AF8-9E63-35F25A3A0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955" y="1938528"/>
            <a:ext cx="4580285" cy="17735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447"/>
          </a:solidFill>
          <a:ln w="12700">
            <a:solidFill>
              <a:srgbClr val="0F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6E4F7"/>
                </a:solidFill>
              </a:rPr>
              <a:t>PART B  ·  INTERPRETABILITY &amp; SHAP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6E4F7"/>
                </a:solidFill>
              </a:rPr>
              <a:t>8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5A"/>
                </a:solidFill>
              </a:rPr>
              <a:t>Why Is Each Patient Flagged?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1298448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SHAP explains each individual prediction — not just which features matter globally, but which factors drove THIS patient's risk score.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20574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</a:rPr>
              <a:t>TOP 5 PREDICTORS (Mean |SHAP|)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237744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Total Prior Spending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71800" y="2414016"/>
            <a:ext cx="14173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71800" y="2414016"/>
            <a:ext cx="1417320" cy="182880"/>
          </a:xfrm>
          <a:prstGeom prst="rect">
            <a:avLst/>
          </a:prstGeom>
          <a:solidFill>
            <a:srgbClr val="2C5FA3"/>
          </a:solidFill>
          <a:ln w="12700">
            <a:solidFill>
              <a:srgbClr val="2C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34840" y="2377440"/>
            <a:ext cx="509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A3"/>
                </a:solidFill>
              </a:rPr>
              <a:t>0.909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287121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Carrier Payments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71800" y="2907792"/>
            <a:ext cx="14173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971800" y="2907792"/>
            <a:ext cx="779526" cy="182880"/>
          </a:xfrm>
          <a:prstGeom prst="rect">
            <a:avLst/>
          </a:prstGeom>
          <a:solidFill>
            <a:srgbClr val="2C5FA3"/>
          </a:solidFill>
          <a:ln w="12700">
            <a:solidFill>
              <a:srgbClr val="2C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34840" y="2871216"/>
            <a:ext cx="509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A3"/>
                </a:solidFill>
              </a:rPr>
              <a:t>0.498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336499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Outpatient Visits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71800" y="3401568"/>
            <a:ext cx="14173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971800" y="3401568"/>
            <a:ext cx="751180" cy="182880"/>
          </a:xfrm>
          <a:prstGeom prst="rect">
            <a:avLst/>
          </a:prstGeom>
          <a:solidFill>
            <a:srgbClr val="2C5FA3"/>
          </a:solidFill>
          <a:ln w="12700">
            <a:solidFill>
              <a:srgbClr val="2C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34840" y="3364992"/>
            <a:ext cx="509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A3"/>
                </a:solidFill>
              </a:rPr>
              <a:t>0.486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38587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71800" y="3895344"/>
            <a:ext cx="14173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971800" y="3895344"/>
            <a:ext cx="666140" cy="182880"/>
          </a:xfrm>
          <a:prstGeom prst="rect">
            <a:avLst/>
          </a:prstGeom>
          <a:solidFill>
            <a:srgbClr val="2C5FA3"/>
          </a:solidFill>
          <a:ln w="12700">
            <a:solidFill>
              <a:srgbClr val="2C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34840" y="3858768"/>
            <a:ext cx="509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A3"/>
                </a:solidFill>
              </a:rPr>
              <a:t>0.425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" y="435254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Spending Growth Rate 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971800" y="4389120"/>
            <a:ext cx="14173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971800" y="4389120"/>
            <a:ext cx="481889" cy="182880"/>
          </a:xfrm>
          <a:prstGeom prst="rect">
            <a:avLst/>
          </a:prstGeom>
          <a:solidFill>
            <a:srgbClr val="2C5FA3"/>
          </a:solidFill>
          <a:ln w="12700">
            <a:solidFill>
              <a:srgbClr val="2C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34839" y="4352544"/>
            <a:ext cx="50977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A3"/>
                </a:solidFill>
              </a:rPr>
              <a:t>0.305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50892" y="1298448"/>
            <a:ext cx="3973068" cy="3429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FC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0040" y="4745736"/>
            <a:ext cx="8503920" cy="26517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accent6">
                    <a:lumMod val="50000"/>
                  </a:schemeClr>
                </a:solidFill>
              </a:rPr>
              <a:t>When your nurse calls a flagged patient, SHAP tells them exactly why — enabling a targeted, personalized conversation.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9927AB8-42C0-4C51-786D-9B0D7389B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618" y="1331446"/>
            <a:ext cx="3785616" cy="33013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6E4F7"/>
                </a:solidFill>
              </a:rPr>
              <a:t>PART A  ·  RECOMMENDATIONS &amp; IMPLICATIONS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6E4F7"/>
                </a:solidFill>
              </a:rPr>
              <a:t>9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5A"/>
                </a:solidFill>
              </a:rPr>
              <a:t>Three Steps to Deploy This Today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8503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353312"/>
            <a:ext cx="594360" cy="1005840"/>
          </a:xfrm>
          <a:prstGeom prst="rect">
            <a:avLst/>
          </a:prstGeom>
          <a:solidFill>
            <a:srgbClr val="2C5FA3"/>
          </a:solidFill>
          <a:ln w="12700">
            <a:solidFill>
              <a:srgbClr val="2C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353312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39903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5A"/>
                </a:solidFill>
              </a:rPr>
              <a:t>Run the Model Each January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700784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Apply the model to your full enrolled Medicare panel using the prior calendar year's claims. Generate a ranked risk-score list before the care management planning cycle begins.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46520" y="1554480"/>
            <a:ext cx="2194560" cy="502920"/>
          </a:xfrm>
          <a:prstGeom prst="rect">
            <a:avLst/>
          </a:prstGeom>
          <a:solidFill>
            <a:srgbClr val="2C5FA3"/>
          </a:solidFill>
          <a:ln w="12700">
            <a:solidFill>
              <a:srgbClr val="2C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46520" y="1554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Proactive — not reactive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468880"/>
            <a:ext cx="8503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468880"/>
            <a:ext cx="594360" cy="10058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468880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251460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5A"/>
                </a:solidFill>
              </a:rPr>
              <a:t>Flag the Top 10%, Not Just Top 5%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816352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On a 5,000-member panel: 500 targeted contacts. Broader net buffers for model uncertainty while capturing 72% of future high-cost patients and 56% of all projected spending.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46520" y="2670048"/>
            <a:ext cx="2194560" cy="5029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46520" y="26700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500 contacts → 72% captured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84448"/>
            <a:ext cx="8503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584448"/>
            <a:ext cx="594360" cy="1005840"/>
          </a:xfrm>
          <a:prstGeom prst="rect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3584448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363016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5A"/>
                </a:solidFill>
              </a:rPr>
              <a:t>Pair Every Flag With Its SHAP Explanation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93192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A patient flagged for high inpatient spending needs a different conversation than one flagged for rising specialist visit frequency. SHAP makes every outreach call smarter.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785616"/>
            <a:ext cx="2194560" cy="502920"/>
          </a:xfrm>
          <a:prstGeom prst="rect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46520" y="378561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Personalized intervention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A2E5A"/>
                </a:solidFill>
              </a:rPr>
              <a:t>Preventing even 15% of avoidable hospitalizations among flagged patients generates ROI that substantially exceeds program cost — and for your most vulnerable members, earlier intervention is not just financial, it is clinical.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5C40"/>
                </a:solidFill>
              </a:rPr>
              <a:t>THE BOTTOM 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10% of your panel.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72% of next year's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highest-cost patients.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ABDE0"/>
                </a:solidFill>
              </a:rPr>
              <a:t>Using only claims data your ACO already has.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4114800" cy="36576"/>
          </a:xfrm>
          <a:prstGeom prst="rect">
            <a:avLst/>
          </a:prstGeom>
          <a:solidFill>
            <a:srgbClr val="3B5EA6"/>
          </a:solidFill>
          <a:ln w="12700">
            <a:solidFill>
              <a:srgbClr val="3B5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5C40"/>
                </a:solidFill>
              </a:rPr>
              <a:t>0.878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91363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DE0"/>
                </a:solidFill>
              </a:rPr>
              <a:t>AUC-ROC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333756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5C40"/>
                </a:solidFill>
              </a:rPr>
              <a:t>72%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011680" y="391363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DE0"/>
                </a:solidFill>
              </a:rPr>
              <a:t>Capture 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333756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5C40"/>
                </a:solidFill>
              </a:rPr>
              <a:t>56%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66160" y="391363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DE0"/>
                </a:solidFill>
              </a:rPr>
              <a:t>Spending Covered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914400"/>
            <a:ext cx="2788920" cy="3749040"/>
          </a:xfrm>
          <a:prstGeom prst="rect">
            <a:avLst/>
          </a:prstGeom>
          <a:solidFill>
            <a:srgbClr val="213470"/>
          </a:solidFill>
          <a:ln w="12700">
            <a:solidFill>
              <a:srgbClr val="2134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0" y="9601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Limitations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Next Steps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463040"/>
            <a:ext cx="2331720" cy="27432"/>
          </a:xfrm>
          <a:prstGeom prst="rect">
            <a:avLst/>
          </a:prstGeom>
          <a:solidFill>
            <a:srgbClr val="3B5EA6"/>
          </a:solidFill>
          <a:ln w="12700">
            <a:solidFill>
              <a:srgbClr val="3B5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157276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D6E4F7"/>
                </a:solidFill>
              </a:rPr>
              <a:t>Sample: 3,339 patients, validate on full panel before deployment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223113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D6E4F7"/>
                </a:solidFill>
              </a:rPr>
              <a:t>Retrain model annually as claims patterns evolve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26480" y="2889504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D6E4F7"/>
                </a:solidFill>
              </a:rPr>
              <a:t>Add calibration correction (Platt scaling) for probability reliability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6480" y="354787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D6E4F7"/>
                </a:solidFill>
              </a:rPr>
              <a:t>Extend to chronic condition sub-groups for precision targeting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1647</TotalTime>
  <Words>1140</Words>
  <Application>Microsoft Macintosh PowerPoint</Application>
  <PresentationFormat>On-screen Show (16:9)</PresentationFormat>
  <Paragraphs>209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High-Cost Medicare Patients</dc:title>
  <dc:subject>PptxGenJS Presentation</dc:subject>
  <dc:creator>PptxGenJS</dc:creator>
  <cp:lastModifiedBy>Sagarika R</cp:lastModifiedBy>
  <cp:revision>26</cp:revision>
  <dcterms:created xsi:type="dcterms:W3CDTF">2026-04-29T09:28:45Z</dcterms:created>
  <dcterms:modified xsi:type="dcterms:W3CDTF">2026-05-01T00:45:17Z</dcterms:modified>
</cp:coreProperties>
</file>